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38BDF8"/>
                </a:solidFill>
              </a:defRPr>
            </a:pPr>
            <a:r>
              <a:t>SMART INDIA HACKATHON — PS: SIH26108</a:t>
            </a:r>
          </a:p>
          <a:p>
            <a:pPr>
              <a:spcAft>
                <a:spcPts val="800"/>
              </a:spcAft>
              <a:defRPr sz="4600" b="1">
                <a:solidFill>
                  <a:srgbClr val="F8FAFC"/>
                </a:solidFill>
              </a:defRPr>
            </a:pPr>
            <a:r>
              <a:t>STANDMAP</a:t>
            </a:r>
          </a:p>
          <a:p>
            <a:pPr>
              <a:spcAft>
                <a:spcPts val="1600"/>
              </a:spcAft>
              <a:defRPr sz="2000" b="1">
                <a:solidFill>
                  <a:srgbClr val="34D399"/>
                </a:solidFill>
              </a:defRPr>
            </a:pPr>
            <a:r>
              <a:t>Automated Bureau of Indian Standards (BIS) Mapping &amp; Applicability Platform</a:t>
            </a:r>
          </a:p>
          <a:p>
            <a:pPr>
              <a:spcAft>
                <a:spcPts val="2800"/>
              </a:spcAft>
              <a:defRPr sz="1300">
                <a:solidFill>
                  <a:srgbClr val="94A3B8"/>
                </a:solidFill>
              </a:defRPr>
            </a:pPr>
            <a:r>
              <a:t>A deterministic, standards-backed decision support engine for public procurement tenders, eliminating specification ambiguity, version obsolescence, and compliance litigation.</a:t>
            </a:r>
          </a:p>
          <a:p>
            <a:pPr>
              <a:defRPr sz="1100" b="1">
                <a:solidFill>
                  <a:srgbClr val="38BDF8"/>
                </a:solidFill>
              </a:defRPr>
            </a:pPr>
            <a:r>
              <a:t>Live Deployment: https://standmap-sih26108.vercel.app  |  Private Repository: github.com/praveenmutyala2006/STANDMAP-SIH26108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SIH 2024 / INTERNAL EVALUATION — PROBLEM STATEMENT: SIH26108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Real-World Procurement Bottlenecks (SIH26108)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61C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1. Fragmented Catalog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Over 21,000 active Indian Standards exist across mechanical, electrical, and civil domains.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Procurement officers manually navigate Gazette notifications, Quality Control Orders (QCOs), and product manuals.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Zero centralized automation exists to link tender clauses directly to applicable standards.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61C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2. Version Obsolescence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Tender documents routinely cite withdrawn or superseded legacy standards.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Example: Citing IS 1180:1989 for distribution transformers instead of the mandated IS 1180 (Part 1):2014.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Citing obsolete standards leads to bid rejections, vendor disqualifications, and costly arbitration.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61C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3. Ambiguity &amp; AI Risks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Tenders often omit critical subtypes (e.g., 1.1 kV cable with unspecified PVC vs XLPE insulation).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Generic LLMs hallucinate fabricated IS numbers or misclassify subtypes (Monoset vs Regenerative pump).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Procurement requires deterministic, legally auditable standards recommendations.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SIH 2024 / INTERNAL EVALUATION — PROBLEM STATEMENT: SIH26108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Proposed Solution: STANDMAP Core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61C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Deterministic Applicability Engine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Subtype-accurate rules engine distinguishing Monoset Pumps (IS 9079:2018) from Regenerative Pumps (IS 8472:2019).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Matches operating conditions (head, discharge, medium) against exact BIS standard scopes.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103120"/>
          </a:xfrm>
          <a:prstGeom prst="roundRect">
            <a:avLst/>
          </a:prstGeom>
          <a:solidFill>
            <a:srgbClr val="161C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Honest Ambiguity Escalation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Detects underspecified tenders (e.g. 1.1 kV power cable without polymer specification).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Refuses to guess; surfaces Candidate A (IS 694 - PVC) and Candidate B (IS 7098 Pt 1 - XLPE) for officer review.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61C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0624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6-Step Traceability &amp; Audit Chain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Full provenance attached to every standard: originating clause, page number, and source excerpt.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Decouples BIS Certification Scheme (Scheme-I) from Legal Status (Mandatory QCO vs Voluntary).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120640" cy="2103120"/>
          </a:xfrm>
          <a:prstGeom prst="roundRect">
            <a:avLst/>
          </a:prstGeom>
          <a:solidFill>
            <a:srgbClr val="161C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20624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Standards Dependency Graph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Traverses multi-tiered relationships: links primary product standards to mandatory test codes (IS 9652) and motors (IS 12615).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Generates Standards-Backed Technical Procurement Reports (PDF/HTML).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SIH 2024 / INTERNAL EVALUATION — PROBLEM STATEMENT: SIH26108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System Architecture &amp; 6-Step End-to-End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685800"/>
          </a:xfrm>
          <a:prstGeom prst="roundRect">
            <a:avLst/>
          </a:prstGeom>
          <a:solidFill>
            <a:srgbClr val="161C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Step 1: Document Ingestion  —  </a:t>
            </a:r>
            <a:r>
              <a:rPr sz="1100">
                <a:solidFill>
                  <a:srgbClr val="94A3B8"/>
                </a:solidFill>
              </a:rPr>
              <a:t>Upload tender (PDF/DOCX/Text) or select benchmark procurement specification.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10698480" cy="685800"/>
          </a:xfrm>
          <a:prstGeom prst="roundRect">
            <a:avLst/>
          </a:prstGeom>
          <a:solidFill>
            <a:srgbClr val="161C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Step 2: Atomic Extraction  —  </a:t>
            </a:r>
            <a:r>
              <a:rPr sz="1100">
                <a:solidFill>
                  <a:srgbClr val="94A3B8"/>
                </a:solidFill>
              </a:rPr>
              <a:t>Extract technical clauses with preserved page numbers, clause IDs, and context.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10698480" cy="685800"/>
          </a:xfrm>
          <a:prstGeom prst="roundRect">
            <a:avLst/>
          </a:prstGeom>
          <a:solidFill>
            <a:srgbClr val="161C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Step 3: Applicability Matching  —  </a:t>
            </a:r>
            <a:r>
              <a:rPr sz="1100">
                <a:solidFill>
                  <a:srgbClr val="94A3B8"/>
                </a:solidFill>
              </a:rPr>
              <a:t>Deterministic engine tests category, product subtype, head, discharge, and voltage limits.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10698480" cy="685800"/>
          </a:xfrm>
          <a:prstGeom prst="roundRect">
            <a:avLst/>
          </a:prstGeom>
          <a:solidFill>
            <a:srgbClr val="161C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Step 4: Ambiguity &amp; Graph Expansion  —  </a:t>
            </a:r>
            <a:r>
              <a:rPr sz="1100">
                <a:solidFill>
                  <a:srgbClr val="94A3B8"/>
                </a:solidFill>
              </a:rPr>
              <a:t>Identifies multi-candidate conflicts and expands linked test codes &amp; motor standards.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846320"/>
            <a:ext cx="10698480" cy="685800"/>
          </a:xfrm>
          <a:prstGeom prst="roundRect">
            <a:avLst/>
          </a:prstGeom>
          <a:solidFill>
            <a:srgbClr val="161C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93776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Step 5: Version Audit  —  </a:t>
            </a:r>
            <a:r>
              <a:rPr sz="1100">
                <a:solidFill>
                  <a:srgbClr val="94A3B8"/>
                </a:solidFill>
              </a:rPr>
              <a:t>Checks publication dates against active gazette status; alerts on superseded standards.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669280"/>
            <a:ext cx="10698480" cy="685800"/>
          </a:xfrm>
          <a:prstGeom prst="roundRect">
            <a:avLst/>
          </a:prstGeom>
          <a:solidFill>
            <a:srgbClr val="161C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7607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Step 6: Officer Review &amp; Report  —  </a:t>
            </a:r>
            <a:r>
              <a:rPr sz="1100">
                <a:solidFill>
                  <a:srgbClr val="94A3B8"/>
                </a:solidFill>
              </a:rPr>
              <a:t>Procuring officer records justifications; generates formal Standards-Backed Report.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SIH 2024 / INTERNAL EVALUATION — PROBLEM STATEMENT: SIH26108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Key Innovations: Moving Beyond Black-Box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C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Why Generic AI Fails in Standards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Hallucination Risk: General LLMs invent nonexistent standard numbers (e.g. claiming IS 9079 covers solar pumps).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Legal Inaccuracy: Cannot distinguish between voluntary recommendations and Gazette-notified mandatory QCOs.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Subtype Blindness: Confuses monoset centrifugal pumps with regenerative peripheral pumps, invalidating tender criteria.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Zero Accountability: Cannot prove which sentence in a 90-page tender led to a specific compliance clause.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61C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STANDMAP Deterministic Defense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Curated BIS Verification Matrix: Source-verified metadata for 15 core standards with Gazette citations.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Subtype Applicability Engine: IS 9079:2018 (Monoset) vs IS 8472:2019 (Regenerative) verified against engineering boundaries.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Unbiased Ambiguity Escalation: Surfacing multi-candidate options (IS 694 vs IS 7098 Pt 1) instead of making false guesses.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Strict Provenance Anchor: Every recommendation directly cites tender clause and page number.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SIH 2024 / INTERNAL EVALUATION — PROBLEM STATEMENT: SIH26108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Technology Stack &amp; Operational Feasibility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61C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Frontend &amp; Interaction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Glassy Noir UI: Premium dark slate aesthetic, backdrop-blur panels, and fluid responsive dock navigation.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Typography &amp; Icons: Google Outfit typography and Lucide icon suite.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Interactive Graph: SVG dependency network visualization of test and parent standards.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Zero-friction web interface running without complex local dependencies.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61C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Backend &amp; Logic Core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Python 3.12 &amp; FastAPI: High-throughput asynchronous REST microservices.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NetworkX: Standards dependency and hierarchical graph resolution engine.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ReportLab Engine: Server-side programmatic PDF generation for official procurement reports.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SQLite / Relational Schema: In-memory auto-seeding with &lt; 20 ms startup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61C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Cloud &amp; Verification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Vercel Serverless: Live production deployment (https://standmap-sih26108.vercel.app).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GitHub Version Control: Full CI/CD pipeline on private repository.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Automated Test Suite: 100% test pass rate across retrieval, applicability, versioning, and reports.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Sub-second latency (&lt; 250ms) for end-to-end tender parsing.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SIH 2024 / INTERNAL EVALUATION — PROBLEM STATEMENT: SIH26108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Future Scope, GeM Integration &amp; Scale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61C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Government e-Marketplace (GeM) API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Integration as an automated pre-publish compliance plugin on GeM portal.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Flags ambiguous or obsolete standards during bid creation before tenders go public.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103120"/>
          </a:xfrm>
          <a:prstGeom prst="roundRect">
            <a:avLst/>
          </a:prstGeom>
          <a:solidFill>
            <a:srgbClr val="161C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Full BIS Catalog Indexing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Scalable ingestion pipeline to expand from current 15 seed standards to all 21,000+ BIS standards.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Automated scraping of weekly Gazette QCO notifications for real-time legal status updates.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61C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0624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Vendor Bid Conformance Checking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Reverse-mode analysis: Compares vendor technical compliance sheets directly against tender standards.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Instantly detects non-compliant product claims during bid evaluation stage.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120640" cy="2103120"/>
          </a:xfrm>
          <a:prstGeom prst="roundRect">
            <a:avLst/>
          </a:prstGeom>
          <a:solidFill>
            <a:srgbClr val="161C2D"/>
          </a:solidFill>
          <a:ln w="1270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20624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Multi-Language Tender Processing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Support for regional language procurement documents using multilingual clause segmentation.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Exportable CVC-aligned audit logs for government vigilance archives.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SIH 2024 / INTERNAL EVALUATION — PROBLEM STATEMENT: SIH26108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Live Prototype &amp; Submission Deliverables (SIH26108)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34D399"/>
                </a:solidFill>
              </a:defRPr>
            </a:pPr>
            <a:r>
              <a:t>PROTOTYPE STATUS: LIVE &amp; VERIFIED IN PRODUCTION</a:t>
            </a:r>
          </a:p>
          <a:p>
            <a:pPr>
              <a:spcAft>
                <a:spcPts val="1200"/>
              </a:spcAft>
              <a:defRPr sz="1300" b="1">
                <a:solidFill>
                  <a:srgbClr val="38BDF8"/>
                </a:solidFill>
              </a:defRPr>
            </a:pPr>
            <a:r>
              <a:t>• Live Web Application: </a:t>
            </a:r>
            <a:r>
              <a:rPr sz="1200">
                <a:solidFill>
                  <a:srgbClr val="F8FAFC"/>
                </a:solidFill>
              </a:rPr>
              <a:t>https://standmap-sih26108.vercel.app (Full Glassy Noir UI, 4 benchmark tenders)</a:t>
            </a:r>
          </a:p>
          <a:p>
            <a:pPr>
              <a:spcAft>
                <a:spcPts val="1200"/>
              </a:spcAft>
              <a:defRPr sz="1300" b="1">
                <a:solidFill>
                  <a:srgbClr val="38BDF8"/>
                </a:solidFill>
              </a:defRPr>
            </a:pPr>
            <a:r>
              <a:t>• Private GitHub Repository: </a:t>
            </a:r>
            <a:r>
              <a:rPr sz="1200">
                <a:solidFill>
                  <a:srgbClr val="F8FAFC"/>
                </a:solidFill>
              </a:rPr>
              <a:t>https://github.com/praveenmutyala2006/STANDMAP-SIH26108 (Full source, tests, API)</a:t>
            </a:r>
          </a:p>
          <a:p>
            <a:pPr>
              <a:spcAft>
                <a:spcPts val="1200"/>
              </a:spcAft>
              <a:defRPr sz="1300" b="1">
                <a:solidFill>
                  <a:srgbClr val="38BDF8"/>
                </a:solidFill>
              </a:defRPr>
            </a:pPr>
            <a:r>
              <a:t>• Problem Statement: </a:t>
            </a:r>
            <a:r>
              <a:rPr sz="1200">
                <a:solidFill>
                  <a:srgbClr val="F8FAFC"/>
                </a:solidFill>
              </a:rPr>
              <a:t>SIH26108 — Automated BIS Mapping &amp; Applicability Platform</a:t>
            </a:r>
          </a:p>
          <a:p>
            <a:pPr>
              <a:spcAft>
                <a:spcPts val="1200"/>
              </a:spcAft>
              <a:defRPr sz="1300" b="1">
                <a:solidFill>
                  <a:srgbClr val="38BDF8"/>
                </a:solidFill>
              </a:defRPr>
            </a:pPr>
            <a:r>
              <a:t>• Key Differentiators: </a:t>
            </a:r>
            <a:r>
              <a:rPr sz="1200">
                <a:solidFill>
                  <a:srgbClr val="F8FAFC"/>
                </a:solidFill>
              </a:rPr>
              <a:t>Deterministic Subtype Matching | Ambiguity Escalation | Provenance Chain | Version Alerts</a:t>
            </a:r>
          </a:p>
          <a:p>
            <a:pPr>
              <a:spcAft>
                <a:spcPts val="1200"/>
              </a:spcAft>
              <a:defRPr sz="1300" b="1">
                <a:solidFill>
                  <a:srgbClr val="38BDF8"/>
                </a:solidFill>
              </a:defRPr>
            </a:pPr>
            <a:r>
              <a:t>• Demonstrated Workflows: </a:t>
            </a:r>
            <a:r>
              <a:rPr sz="1200">
                <a:solidFill>
                  <a:srgbClr val="F8FAFC"/>
                </a:solidFill>
              </a:rPr>
              <a:t>1. Monoset Pump (IS 9079)  |  2. Cable Ambiguity (IS 694 vs IS 7098)  |  3. Legacy Version Alert (IS 1180)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